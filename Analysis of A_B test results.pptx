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90EB14-E66E-45E8-A036-97EA80B191A8}">
  <a:tblStyle styleId="{C490EB14-E66E-45E8-A036-97EA80B191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d2d72c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d2d72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d2d72c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d2d72c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d2d72c4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d2d72c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d2d72c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d2d72c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d2d72c4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d2d72c4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d2d72c4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d2d72c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d2d72c4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d2d72c4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25258" y="326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Analysis of the results of A/B testing for Mobile App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04750" y="2993075"/>
            <a:ext cx="8520600" cy="17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i="1" lang="uk" sz="1425">
                <a:solidFill>
                  <a:srgbClr val="000000"/>
                </a:solidFill>
              </a:rPr>
              <a:t>Primary hypothesis (H1)</a:t>
            </a:r>
            <a:endParaRPr b="1" i="1" sz="142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25">
                <a:solidFill>
                  <a:srgbClr val="000000"/>
                </a:solidFill>
              </a:rPr>
              <a:t>Показ ціни підписки $4.99 з повідомленням про “50% знижку” збільшить конверсію в покупку тижневої підписки порівняно з поточним дизайном.</a:t>
            </a:r>
            <a:endParaRPr sz="142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2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i="1" lang="uk" sz="1425">
                <a:solidFill>
                  <a:srgbClr val="000000"/>
                </a:solidFill>
              </a:rPr>
              <a:t>Null hypothesis (H0)</a:t>
            </a:r>
            <a:endParaRPr b="1" i="1" sz="142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25">
                <a:solidFill>
                  <a:srgbClr val="000000"/>
                </a:solidFill>
              </a:rPr>
              <a:t>Конверсія в покупку тижневої підписки не відрізняється між поточним дизайном та дизайном зі знижкою 50%.</a:t>
            </a:r>
            <a:endParaRPr sz="309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2000"/>
              <a:t>Контекст тесту</a:t>
            </a:r>
            <a:endParaRPr sz="31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Мета A/B тесту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Оцінити, чи впливає подача тієї ж ціни підписки ($4.99) як </a:t>
            </a:r>
            <a:r>
              <a:rPr i="1" lang="uk" sz="1400">
                <a:solidFill>
                  <a:schemeClr val="dk1"/>
                </a:solidFill>
              </a:rPr>
              <a:t>“50% знижки”</a:t>
            </a:r>
            <a:r>
              <a:rPr lang="uk" sz="1400">
                <a:solidFill>
                  <a:schemeClr val="dk1"/>
                </a:solidFill>
              </a:rPr>
              <a:t> на конверсію з інстала в платіж.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Варіанти: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uk" sz="1400">
                <a:solidFill>
                  <a:schemeClr val="dk1"/>
                </a:solidFill>
              </a:rPr>
              <a:t>Група A (Control):</a:t>
            </a:r>
            <a:r>
              <a:rPr lang="uk" sz="1400">
                <a:solidFill>
                  <a:schemeClr val="dk1"/>
                </a:solidFill>
              </a:rPr>
              <a:t> стандартна пропозиція підписки за $4.99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uk" sz="1400">
                <a:solidFill>
                  <a:schemeClr val="dk1"/>
                </a:solidFill>
              </a:rPr>
              <a:t>Група B (Variant):</a:t>
            </a:r>
            <a:r>
              <a:rPr lang="uk" sz="1400">
                <a:solidFill>
                  <a:schemeClr val="dk1"/>
                </a:solidFill>
              </a:rPr>
              <a:t> та ж підписка за $4.99 з повідомленням про знижку 50%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400">
                <a:solidFill>
                  <a:schemeClr val="dk1"/>
                </a:solidFill>
              </a:rPr>
              <a:t>Ключова метрика: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Конверсія з інстала в платіж (install → purchase)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2000"/>
              <a:t>Дані та тривалість тесту</a:t>
            </a:r>
            <a:endParaRPr sz="31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61500" y="1254450"/>
            <a:ext cx="2676900" cy="12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Період тесту: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Початок: </a:t>
            </a:r>
            <a:r>
              <a:rPr b="1" lang="uk" sz="1400">
                <a:solidFill>
                  <a:schemeClr val="dk1"/>
                </a:solidFill>
              </a:rPr>
              <a:t>2023-07-03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Кінець: </a:t>
            </a:r>
            <a:r>
              <a:rPr b="1" lang="uk" sz="1400">
                <a:solidFill>
                  <a:schemeClr val="dk1"/>
                </a:solidFill>
              </a:rPr>
              <a:t>2023-07-25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Тривалість: </a:t>
            </a:r>
            <a:r>
              <a:rPr b="1" lang="uk" sz="1400">
                <a:solidFill>
                  <a:schemeClr val="dk1"/>
                </a:solidFill>
              </a:rPr>
              <a:t>22 дні</a:t>
            </a:r>
            <a:endParaRPr sz="2100"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481675" y="299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{C490EB14-E66E-45E8-A036-97EA80B191A8}</a:tableStyleId>
              </a:tblPr>
              <a:tblGrid>
                <a:gridCol w="1263000"/>
                <a:gridCol w="2264675"/>
                <a:gridCol w="1829150"/>
                <a:gridCol w="2917950"/>
              </a:tblGrid>
              <a:tr h="62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uk"/>
                        <a:t>Група</a:t>
                      </a:r>
                      <a:endParaRPr b="1"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uk"/>
                        <a:t>Користувачі</a:t>
                      </a:r>
                      <a:endParaRPr b="1"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uk"/>
                        <a:t>Конверсії</a:t>
                      </a:r>
                      <a:endParaRPr b="1"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uk"/>
                        <a:t>Рівень конверсії </a:t>
                      </a:r>
                      <a:endParaRPr b="1"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A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10 013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611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6.10%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B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9 985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889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uk"/>
                        <a:t>8.90%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Google Shape;69;p15"/>
          <p:cNvSpPr txBox="1"/>
          <p:nvPr/>
        </p:nvSpPr>
        <p:spPr>
          <a:xfrm>
            <a:off x="3781000" y="959575"/>
            <a:ext cx="48393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</a:rPr>
              <a:t>Абсолютна різниця: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uk">
                <a:solidFill>
                  <a:schemeClr val="dk1"/>
                </a:solidFill>
              </a:rPr>
              <a:t>2.8 п.п.</a:t>
            </a:r>
            <a:r>
              <a:rPr lang="uk">
                <a:solidFill>
                  <a:schemeClr val="dk1"/>
                </a:solidFill>
              </a:rPr>
              <a:t> на користь групи 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</a:rPr>
              <a:t>Відносний приріст: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>
                <a:solidFill>
                  <a:schemeClr val="dk1"/>
                </a:solidFill>
              </a:rPr>
              <a:t>≈ </a:t>
            </a:r>
            <a:r>
              <a:rPr b="1" lang="uk">
                <a:solidFill>
                  <a:schemeClr val="dk1"/>
                </a:solidFill>
              </a:rPr>
              <a:t>+46%</a:t>
            </a:r>
            <a:r>
              <a:rPr lang="uk">
                <a:solidFill>
                  <a:schemeClr val="dk1"/>
                </a:solidFill>
              </a:rPr>
              <a:t> до конверсії відносно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5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020"/>
              <a:t>Статистичне тестування гіпотез</a:t>
            </a:r>
            <a:endParaRPr b="1" sz="20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Нульова гіпотеза (H₀):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Різниці в конверсії між групами A та B немає.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Альтернативна гіпотеза (H₁):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Конверсія в групі B відрізняється від групи 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Використаний критерій: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Z-test для порівняння двох пропорцій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Результати тесту: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Z-statistic = </a:t>
            </a:r>
            <a:r>
              <a:rPr b="1" lang="uk" sz="1400">
                <a:solidFill>
                  <a:schemeClr val="dk1"/>
                </a:solidFill>
              </a:rPr>
              <a:t>−7.52</a:t>
            </a:r>
            <a:br>
              <a:rPr b="1" lang="uk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p-value = </a:t>
            </a:r>
            <a:r>
              <a:rPr b="1" lang="uk" sz="1400">
                <a:solidFill>
                  <a:schemeClr val="dk1"/>
                </a:solidFill>
              </a:rPr>
              <a:t>5.49 × 10⁻¹⁴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400">
                <a:solidFill>
                  <a:schemeClr val="dk1"/>
                </a:solidFill>
              </a:rPr>
              <a:t>Висновок: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p-value ≪ 0.05 → </a:t>
            </a:r>
            <a:r>
              <a:rPr b="1" lang="uk" sz="1400">
                <a:solidFill>
                  <a:schemeClr val="dk1"/>
                </a:solidFill>
              </a:rPr>
              <a:t>нульову гіпотезу відхиляємо</a:t>
            </a:r>
            <a:r>
              <a:rPr lang="uk" sz="1400">
                <a:solidFill>
                  <a:schemeClr val="dk1"/>
                </a:solidFill>
              </a:rPr>
              <a:t>.</a:t>
            </a:r>
            <a:br>
              <a:rPr lang="uk" sz="1400">
                <a:solidFill>
                  <a:schemeClr val="dk1"/>
                </a:solidFill>
              </a:rPr>
            </a:br>
            <a:r>
              <a:rPr lang="uk" sz="1400">
                <a:solidFill>
                  <a:schemeClr val="dk1"/>
                </a:solidFill>
              </a:rPr>
              <a:t> Різниця між групами статистично значуща.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9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020"/>
              <a:t>Порівняння конверсій з 95% CI</a:t>
            </a:r>
            <a:endParaRPr b="1" sz="202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32225" y="3850200"/>
            <a:ext cx="8520600" cy="12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Інтерпретація: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95% довірчі інтервали </a:t>
            </a:r>
            <a:r>
              <a:rPr b="1" lang="uk" sz="1400">
                <a:solidFill>
                  <a:schemeClr val="dk1"/>
                </a:solidFill>
              </a:rPr>
              <a:t>не перекриваються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Це додатково підтверджує статистичну значущість різниці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Variant стабільно демонструє вищу конверсію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6920" r="20622" t="0"/>
          <a:stretch/>
        </p:blipFill>
        <p:spPr>
          <a:xfrm>
            <a:off x="1448390" y="781700"/>
            <a:ext cx="5434584" cy="30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3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020"/>
              <a:t>Динаміка конверсії в часі*</a:t>
            </a:r>
            <a:endParaRPr b="1" sz="202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266275" y="3861600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Спостереження: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Конверсія групи B переважає групу A протягом більшості періоду тесту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Коливання є в обох групах, але </a:t>
            </a:r>
            <a:r>
              <a:rPr b="1" lang="uk" sz="1400">
                <a:solidFill>
                  <a:schemeClr val="dk1"/>
                </a:solidFill>
              </a:rPr>
              <a:t>тренд стабільно на користь B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Наприкінці тесту не спостерігається деградації ефекту</a:t>
            </a:r>
            <a:endParaRPr sz="2100"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9812" r="0" t="0"/>
          <a:stretch/>
        </p:blipFill>
        <p:spPr>
          <a:xfrm>
            <a:off x="1704100" y="636500"/>
            <a:ext cx="5826658" cy="336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020"/>
              <a:t>Підсумкові висновки</a:t>
            </a:r>
            <a:endParaRPr b="1" sz="202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>
                <a:solidFill>
                  <a:schemeClr val="dk1"/>
                </a:solidFill>
              </a:rPr>
              <a:t>Варіант із повідомленням про </a:t>
            </a:r>
            <a:r>
              <a:rPr b="1" lang="uk" sz="1400">
                <a:solidFill>
                  <a:schemeClr val="dk1"/>
                </a:solidFill>
              </a:rPr>
              <a:t>“50% знижку”</a:t>
            </a:r>
            <a:r>
              <a:rPr lang="uk" sz="1400">
                <a:solidFill>
                  <a:schemeClr val="dk1"/>
                </a:solidFill>
              </a:rPr>
              <a:t> показав: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статистично значуще зростання конверсії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+2.8 п.п. абсолютного приросту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>
                <a:solidFill>
                  <a:schemeClr val="dk1"/>
                </a:solidFill>
              </a:rPr>
              <a:t>Результат стабільний у часі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400">
                <a:solidFill>
                  <a:schemeClr val="dk1"/>
                </a:solidFill>
              </a:rPr>
              <a:t>Обсяг вибірки та тривалість тесту достатні для прийняття рішення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020"/>
              <a:t>Прийняте рішення </a:t>
            </a:r>
            <a:r>
              <a:rPr b="1" lang="uk" sz="2000">
                <a:solidFill>
                  <a:srgbClr val="2F2F37"/>
                </a:solidFill>
                <a:highlight>
                  <a:srgbClr val="FFFFFF"/>
                </a:highlight>
              </a:rPr>
              <a:t>на основі отриманих даних</a:t>
            </a:r>
            <a:endParaRPr b="1" sz="20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Рішення:</a:t>
            </a:r>
            <a:br>
              <a:rPr b="1" lang="uk" sz="1400">
                <a:solidFill>
                  <a:schemeClr val="dk1"/>
                </a:solidFill>
              </a:rPr>
            </a:br>
            <a:r>
              <a:rPr lang="uk" sz="1400" u="sng">
                <a:solidFill>
                  <a:schemeClr val="dk1"/>
                </a:solidFill>
              </a:rPr>
              <a:t> Рекомендується впровадити Variant (B) на 100% користувачів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>
                <a:solidFill>
                  <a:schemeClr val="dk1"/>
                </a:solidFill>
              </a:rPr>
              <a:t>Наступні кроки: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Перевірити вплив на довгострокові метрики (ARPU, retention)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uk" sz="1400">
                <a:solidFill>
                  <a:schemeClr val="dk1"/>
                </a:solidFill>
              </a:rPr>
              <a:t>Запланувати наступні тести:</a:t>
            </a:r>
            <a:br>
              <a:rPr lang="uk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uk">
                <a:solidFill>
                  <a:schemeClr val="dk1"/>
                </a:solidFill>
              </a:rPr>
              <a:t>формулювання знижки;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uk">
                <a:solidFill>
                  <a:schemeClr val="dk1"/>
                </a:solidFill>
              </a:rPr>
              <a:t>обмеження в часі;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uk">
                <a:solidFill>
                  <a:schemeClr val="dk1"/>
                </a:solidFill>
              </a:rPr>
              <a:t>альтернативні value-based меседжі без знижки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